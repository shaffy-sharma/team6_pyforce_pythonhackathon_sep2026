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7720" y="374243"/>
            <a:ext cx="5666038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sz="4000" b="1" dirty="0">
                <a:solidFill>
                  <a:srgbClr val="FFFFFF"/>
                </a:solidFill>
                <a:latin typeface="Aptos Display"/>
              </a:rPr>
              <a:t>Cardiac Patient Analytics</a:t>
            </a:r>
          </a:p>
          <a:p>
            <a:pPr>
              <a:defRPr sz="2000">
                <a:solidFill>
                  <a:srgbClr val="93C5FD"/>
                </a:solidFill>
              </a:defRPr>
            </a:pPr>
            <a:r>
              <a:rPr sz="1800" b="1" dirty="0">
                <a:solidFill>
                  <a:srgbClr val="FFFFFF"/>
                </a:solidFill>
                <a:latin typeface="Aptos Display"/>
              </a:rPr>
              <a:t>Python Hackathon • Team 6 — </a:t>
            </a:r>
            <a:r>
              <a:rPr sz="1800" b="1" dirty="0" err="1">
                <a:solidFill>
                  <a:srgbClr val="FFFFFF"/>
                </a:solidFill>
                <a:latin typeface="Aptos Display"/>
              </a:rPr>
              <a:t>PyForce</a:t>
            </a:r>
            <a:endParaRPr sz="18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2240280"/>
            <a:ext cx="6923690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rPr sz="1700" b="1" dirty="0">
                <a:solidFill>
                  <a:srgbClr val="DCE6F2"/>
                </a:solidFill>
                <a:latin typeface="Aptos"/>
              </a:rPr>
              <a:t>From cleaned multi-source cardiac data to descriptive insights,</a:t>
            </a:r>
            <a:endParaRPr lang="en-US" sz="1700" b="1" dirty="0">
              <a:solidFill>
                <a:srgbClr val="DCE6F2"/>
              </a:solidFill>
              <a:latin typeface="Aptos"/>
            </a:endParaRPr>
          </a:p>
          <a:p>
            <a:pPr>
              <a:defRPr sz="1500">
                <a:solidFill>
                  <a:srgbClr val="CBD5E1"/>
                </a:solidFill>
              </a:defRPr>
            </a:pPr>
            <a:r>
              <a:rPr sz="1700" b="1" dirty="0">
                <a:solidFill>
                  <a:srgbClr val="DCE6F2"/>
                </a:solidFill>
                <a:latin typeface="Aptos"/>
              </a:rPr>
              <a:t>prescriptive priorities, predictive readmission risk and an integrated</a:t>
            </a:r>
            <a:endParaRPr lang="en-US" sz="1700" b="1" dirty="0">
              <a:solidFill>
                <a:srgbClr val="DCE6F2"/>
              </a:solidFill>
              <a:latin typeface="Aptos"/>
            </a:endParaRPr>
          </a:p>
          <a:p>
            <a:pPr>
              <a:defRPr sz="1500">
                <a:solidFill>
                  <a:srgbClr val="CBD5E1"/>
                </a:solidFill>
              </a:defRPr>
            </a:pPr>
            <a:r>
              <a:rPr sz="1700" b="1" dirty="0">
                <a:solidFill>
                  <a:srgbClr val="DCE6F2"/>
                </a:solidFill>
                <a:latin typeface="Aptos"/>
              </a:rPr>
              <a:t>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58200" y="914400"/>
            <a:ext cx="2926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58200" y="914400"/>
            <a:ext cx="64008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41080" y="1033271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17365D"/>
                </a:solidFill>
                <a:latin typeface="Aptos"/>
              </a:rPr>
              <a:t>INTEGRATED PATIENTS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1298448"/>
            <a:ext cx="26060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rPr sz="2500" b="1">
                <a:solidFill>
                  <a:srgbClr val="17365D"/>
                </a:solidFill>
                <a:latin typeface="Aptos Display"/>
              </a:rPr>
              <a:t>2,008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1737360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rPr sz="1200">
                <a:latin typeface="Aptos"/>
              </a:rPr>
              <a:t>7 cleaned source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286000"/>
            <a:ext cx="2926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58200" y="2286000"/>
            <a:ext cx="64008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41080" y="2404872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17365D"/>
                </a:solidFill>
                <a:latin typeface="Aptos"/>
              </a:rPr>
              <a:t>6-MONTH READMISSION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670048"/>
            <a:ext cx="26060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rPr sz="2500" b="1">
                <a:solidFill>
                  <a:srgbClr val="17365D"/>
                </a:solidFill>
                <a:latin typeface="Aptos Display"/>
              </a:rPr>
              <a:t>38.5%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3657600"/>
            <a:ext cx="2926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58200" y="3657600"/>
            <a:ext cx="64008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3776472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17365D"/>
                </a:solidFill>
                <a:latin typeface="Aptos"/>
              </a:rPr>
              <a:t>6-MONTH MORTALITY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041648"/>
            <a:ext cx="26060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rPr sz="2500" b="1">
                <a:solidFill>
                  <a:srgbClr val="17365D"/>
                </a:solidFill>
                <a:latin typeface="Aptos Display"/>
              </a:rPr>
              <a:t>2.8%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83480"/>
            <a:ext cx="7132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3C5FD"/>
                </a:solidFill>
              </a:defRPr>
            </a:pPr>
            <a:r>
              <a:rPr sz="1400" b="1">
                <a:solidFill>
                  <a:srgbClr val="DCE6F2"/>
                </a:solidFill>
                <a:latin typeface="Aptos"/>
              </a:rPr>
              <a:t>Team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 sz="1400" b="1">
                <a:solidFill>
                  <a:srgbClr val="DCE6F2"/>
                </a:solidFill>
                <a:latin typeface="Aptos"/>
              </a:rPr>
              <a:t>Shaffy  •  Radhika  •  Poulami  •  Samreet  •  Sharmila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6539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748B"/>
                </a:solidFill>
              </a:defRPr>
            </a:pPr>
            <a:r>
              <a:rPr sz="1200">
                <a:solidFill>
                  <a:srgbClr val="BECDDE"/>
                </a:solidFill>
                <a:latin typeface="Aptos"/>
              </a:rPr>
              <a:t>Team 6 • PyForce   |  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5" y="246888"/>
            <a:ext cx="491564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rPr dirty="0">
                <a:latin typeface="Aptos"/>
              </a:rPr>
              <a:t>1. Data Preprocessing / Cleaning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23444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216152"/>
            <a:ext cx="186390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600" dirty="0">
                <a:latin typeface="Aptos"/>
              </a:rPr>
              <a:t>Clean source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90472"/>
            <a:ext cx="464864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1400" b="1" dirty="0">
                <a:latin typeface="Aptos"/>
              </a:rPr>
              <a:t>Standardize fields, types and values before integration</a:t>
            </a:r>
            <a:r>
              <a:rPr sz="1200" dirty="0">
                <a:latin typeface="Aptos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48840"/>
            <a:ext cx="19269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600" dirty="0">
                <a:latin typeface="Aptos"/>
              </a:rPr>
              <a:t>Validate patient_id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23160"/>
            <a:ext cx="522187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1400" b="1" dirty="0">
                <a:latin typeface="Aptos"/>
              </a:rPr>
              <a:t>Check missing IDs, uniqueness and duplicate patient records</a:t>
            </a:r>
            <a:r>
              <a:rPr sz="1200" dirty="0">
                <a:latin typeface="Aptos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099816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145536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81528"/>
            <a:ext cx="176618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600" dirty="0">
                <a:latin typeface="Aptos"/>
              </a:rPr>
              <a:t>Merge 7 datasets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55848"/>
            <a:ext cx="49026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1400" b="1" dirty="0">
                <a:latin typeface="Aptos"/>
              </a:rPr>
              <a:t>Use patient_id with one-to-one left merges to preserve the</a:t>
            </a:r>
            <a:endParaRPr lang="en-US" sz="1400" b="1" dirty="0">
              <a:latin typeface="Aptos"/>
            </a:endParaRPr>
          </a:p>
          <a:p>
            <a:pPr>
              <a:defRPr sz="900">
                <a:solidFill>
                  <a:srgbClr val="64748B"/>
                </a:solidFill>
              </a:defRPr>
            </a:pPr>
            <a:r>
              <a:rPr sz="1400" b="1" dirty="0">
                <a:latin typeface="Aptos"/>
              </a:rPr>
              <a:t> master cohort.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032504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078224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14216"/>
            <a:ext cx="156895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600" dirty="0">
                <a:latin typeface="Aptos"/>
              </a:rPr>
              <a:t>Quality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288536"/>
            <a:ext cx="44080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1400" b="1" dirty="0">
                <a:latin typeface="Aptos"/>
              </a:rPr>
              <a:t>Verify final rows, unique patients, duplicate IDs and </a:t>
            </a:r>
            <a:endParaRPr lang="en-US" sz="1400" b="1" dirty="0">
              <a:latin typeface="Aptos"/>
            </a:endParaRPr>
          </a:p>
          <a:p>
            <a:pPr>
              <a:defRPr sz="900">
                <a:solidFill>
                  <a:srgbClr val="64748B"/>
                </a:solidFill>
              </a:defRPr>
            </a:pPr>
            <a:r>
              <a:rPr sz="1400" b="1" dirty="0">
                <a:latin typeface="Aptos"/>
              </a:rPr>
              <a:t>duplicate column names.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9651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010912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946904"/>
            <a:ext cx="184749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600" dirty="0">
                <a:latin typeface="Aptos"/>
              </a:rPr>
              <a:t>Save final dataset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21224"/>
            <a:ext cx="442448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1400" b="1" dirty="0">
                <a:latin typeface="Aptos"/>
              </a:rPr>
              <a:t>Create one analysis-ready CSV used across all three</a:t>
            </a:r>
            <a:endParaRPr lang="en-US" sz="1400" b="1" dirty="0">
              <a:latin typeface="Aptos"/>
            </a:endParaRPr>
          </a:p>
          <a:p>
            <a:pPr>
              <a:defRPr sz="900">
                <a:solidFill>
                  <a:srgbClr val="64748B"/>
                </a:solidFill>
              </a:defRPr>
            </a:pPr>
            <a:r>
              <a:rPr sz="1400" b="1" dirty="0">
                <a:latin typeface="Aptos"/>
              </a:rPr>
              <a:t> analytics stages.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132588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37960" y="1325880"/>
            <a:ext cx="64008" cy="11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0840" y="1444752"/>
            <a:ext cx="129503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rPr sz="1200" dirty="0">
                <a:latin typeface="Aptos"/>
              </a:rPr>
              <a:t>FINAL PATIENTS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709928"/>
            <a:ext cx="841897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rPr dirty="0">
                <a:latin typeface="Aptos"/>
              </a:rPr>
              <a:t>2,008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148840"/>
            <a:ext cx="1965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rPr sz="1200">
                <a:latin typeface="Aptos"/>
              </a:rPr>
              <a:t>One row per patient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132588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052560" y="1325880"/>
            <a:ext cx="64008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35440" y="144475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rPr sz="1200">
                <a:latin typeface="Aptos"/>
              </a:rPr>
              <a:t>FINAL COLUMNS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1709928"/>
            <a:ext cx="617477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rPr dirty="0">
                <a:latin typeface="Aptos"/>
              </a:rPr>
              <a:t>171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148840"/>
            <a:ext cx="1965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rPr sz="1200">
                <a:latin typeface="Aptos"/>
              </a:rPr>
              <a:t>Integrated feature set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2743200"/>
            <a:ext cx="48006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0840" y="2880360"/>
            <a:ext cx="176734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rPr sz="1600" dirty="0">
                <a:latin typeface="Aptos"/>
              </a:rPr>
              <a:t>Why this matters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3200400"/>
            <a:ext cx="443484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1E293B"/>
                </a:solidFill>
              </a:defRPr>
            </a:pPr>
            <a:r>
              <a:rPr sz="1400" b="1" dirty="0">
                <a:latin typeface="Aptos"/>
              </a:rPr>
              <a:t>A predictive or prescriptive result is only as trustworthy as the data feeding it. The project therefore validates patient IDs before merging, uses one-to-one merge checks, and verifies the final dataset for duplicate IDs and duplicate column names. This creates a single consistent patient-level dataset for all downstream analysis</a:t>
            </a:r>
            <a:r>
              <a:rPr sz="1200" dirty="0">
                <a:latin typeface="Aptos"/>
              </a:rPr>
              <a:t>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5349239"/>
            <a:ext cx="4800600" cy="1143001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75120" y="5400426"/>
            <a:ext cx="94609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rPr sz="1600" dirty="0">
                <a:latin typeface="Aptos"/>
              </a:rPr>
              <a:t>Pipeline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5642855"/>
            <a:ext cx="4434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1E293B"/>
                </a:solidFill>
              </a:defRPr>
            </a:pPr>
            <a:r>
              <a:rPr sz="1400" b="1" dirty="0">
                <a:latin typeface="Aptos"/>
              </a:rPr>
              <a:t>7 cleaned CSVs  →  patient_id validation  →  one-to-one merge  →  quality checks  →  Team6_PyForce_cleaned_data.csv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6539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748B"/>
                </a:solidFill>
              </a:defRPr>
            </a:pPr>
            <a:r>
              <a:rPr sz="1200">
                <a:latin typeface="Aptos"/>
              </a:rPr>
              <a:t>Team 6 • PyForce   |  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3_format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85215" y="246888"/>
            <a:ext cx="6400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rPr dirty="0">
                <a:latin typeface="Aptos"/>
              </a:rPr>
              <a:t>2. Descriptive Analysis</a:t>
            </a:r>
          </a:p>
        </p:txBody>
      </p:sp>
      <p:sp>
        <p:nvSpPr>
          <p:cNvPr id="4" name="Story from the charts"/>
          <p:cNvSpPr/>
          <p:nvPr/>
        </p:nvSpPr>
        <p:spPr>
          <a:xfrm>
            <a:off x="4630615" y="5032549"/>
            <a:ext cx="7042220" cy="128953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82880" tIns="109728" rIns="182880" bIns="91440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D9488"/>
                </a:solidFill>
                <a:latin typeface="Aptos"/>
              </a:rPr>
              <a:t>Descriptive Takeaways</a:t>
            </a:r>
          </a:p>
          <a:p>
            <a:pPr algn="l">
              <a:spcBef>
                <a:spcPts val="600"/>
              </a:spcBef>
            </a:pPr>
            <a:r>
              <a:rPr lang="en-US" sz="1200" b="1" dirty="0">
                <a:solidFill>
                  <a:srgbClr val="1E293B"/>
                </a:solidFill>
                <a:latin typeface="Aptos"/>
              </a:rPr>
              <a:t>The cohort is older and female-majority (57.9% female vs. 42.1% male), with most patients concentrated in the 70–89 age range. Congestive heart failure is the dominant cardiac complication; kidney disease and diabetes are the leading comorbidities, and patients take about 7.7 medications on average.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4_format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escriptive takeaway"/>
          <p:cNvSpPr/>
          <p:nvPr/>
        </p:nvSpPr>
        <p:spPr>
          <a:xfrm>
            <a:off x="535912" y="5627077"/>
            <a:ext cx="11111802" cy="1139483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82880" tIns="109728" rIns="182880" bIns="91440" rtlCol="0" anchor="t">
            <a:noAutofit/>
          </a:bodyPr>
          <a:lstStyle/>
          <a:p>
            <a:pPr algn="l"/>
            <a:r>
              <a:rPr lang="en-US" b="1" dirty="0">
                <a:solidFill>
                  <a:srgbClr val="7C3AED"/>
                </a:solidFill>
                <a:latin typeface="Aptos"/>
              </a:rPr>
              <a:t>Prescriptive takeaway</a:t>
            </a:r>
          </a:p>
          <a:p>
            <a:pPr algn="l">
              <a:spcBef>
                <a:spcPts val="400"/>
              </a:spcBef>
            </a:pPr>
            <a:r>
              <a:rPr lang="en-US" sz="1200" b="1" dirty="0">
                <a:solidFill>
                  <a:srgbClr val="1E293B"/>
                </a:solidFill>
                <a:latin typeface="Aptos"/>
              </a:rPr>
              <a:t>Readmission risk rises with comorbidity burden and is higher in diabetic patients (about 46% vs 36%), while COPD shows little difference, so these patterns help flag the 176 high-priority patients for closer follow-up.</a:t>
            </a:r>
          </a:p>
          <a:p>
            <a:pPr algn="l">
              <a:spcBef>
                <a:spcPts val="200"/>
              </a:spcBef>
            </a:pPr>
            <a:r>
              <a:rPr lang="en-US" sz="1200" b="1" dirty="0">
                <a:solidFill>
                  <a:srgbClr val="1E293B"/>
                </a:solidFill>
                <a:latin typeface="Aptos"/>
              </a:rPr>
              <a:t>These findings support prioritization and care coordination, but they don't define clinical treatment rules.</a:t>
            </a:r>
          </a:p>
        </p:txBody>
      </p:sp>
      <p:sp>
        <p:nvSpPr>
          <p:cNvPr id="10" name="KPI High Priority"/>
          <p:cNvSpPr/>
          <p:nvPr/>
        </p:nvSpPr>
        <p:spPr>
          <a:xfrm>
            <a:off x="6698901" y="334945"/>
            <a:ext cx="1616110" cy="70338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82880" tIns="0" rIns="45720" bIns="0" rtlCol="0" anchor="ctr">
            <a:noAutofit/>
          </a:bodyPr>
          <a:lstStyle/>
          <a:p>
            <a:pPr algn="l"/>
            <a:r>
              <a:rPr lang="en-US" sz="900" b="1" dirty="0">
                <a:solidFill>
                  <a:srgbClr val="64748B"/>
                </a:solidFill>
                <a:latin typeface="Aptos"/>
              </a:rPr>
              <a:t>HIGH PRIORITY</a:t>
            </a:r>
          </a:p>
          <a:p>
            <a:pPr algn="l">
              <a:spcBef>
                <a:spcPts val="500"/>
              </a:spcBef>
            </a:pPr>
            <a:r>
              <a:rPr lang="en-US" sz="2400" b="1" dirty="0">
                <a:solidFill>
                  <a:srgbClr val="0F172A"/>
                </a:solidFill>
                <a:latin typeface="Aptos"/>
              </a:rPr>
              <a:t>176</a:t>
            </a:r>
          </a:p>
        </p:txBody>
      </p:sp>
      <p:sp>
        <p:nvSpPr>
          <p:cNvPr id="11" name="KPI stripe High Priority"/>
          <p:cNvSpPr/>
          <p:nvPr/>
        </p:nvSpPr>
        <p:spPr>
          <a:xfrm>
            <a:off x="6698901" y="368440"/>
            <a:ext cx="50242" cy="6363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KPI High Readmission"/>
          <p:cNvSpPr/>
          <p:nvPr/>
        </p:nvSpPr>
        <p:spPr>
          <a:xfrm>
            <a:off x="8398747" y="334945"/>
            <a:ext cx="1616110" cy="70338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82880" tIns="0" rIns="45720" bIns="0" rtlCol="0" anchor="ctr">
            <a:noAutofit/>
          </a:bodyPr>
          <a:lstStyle/>
          <a:p>
            <a:pPr algn="l"/>
            <a:r>
              <a:rPr lang="en-US" sz="900" b="1" dirty="0">
                <a:solidFill>
                  <a:srgbClr val="64748B"/>
                </a:solidFill>
                <a:latin typeface="Aptos"/>
              </a:rPr>
              <a:t>HIGH READMISSION</a:t>
            </a:r>
          </a:p>
          <a:p>
            <a:pPr algn="l">
              <a:spcBef>
                <a:spcPts val="500"/>
              </a:spcBef>
            </a:pPr>
            <a:r>
              <a:rPr lang="en-US" sz="2400" b="1" dirty="0">
                <a:solidFill>
                  <a:srgbClr val="0F172A"/>
                </a:solidFill>
                <a:latin typeface="Aptos"/>
              </a:rPr>
              <a:t>40.9%</a:t>
            </a:r>
          </a:p>
        </p:txBody>
      </p:sp>
      <p:sp>
        <p:nvSpPr>
          <p:cNvPr id="13" name="KPI stripe High Readmission"/>
          <p:cNvSpPr/>
          <p:nvPr/>
        </p:nvSpPr>
        <p:spPr>
          <a:xfrm>
            <a:off x="8398747" y="368440"/>
            <a:ext cx="50242" cy="6363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KPI High Mortality"/>
          <p:cNvSpPr/>
          <p:nvPr/>
        </p:nvSpPr>
        <p:spPr>
          <a:xfrm>
            <a:off x="10098593" y="334945"/>
            <a:ext cx="1616110" cy="70338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82880" tIns="0" rIns="45720" bIns="0" rtlCol="0" anchor="ctr">
            <a:noAutofit/>
          </a:bodyPr>
          <a:lstStyle/>
          <a:p>
            <a:pPr algn="l"/>
            <a:r>
              <a:rPr lang="en-US" sz="900" b="1" dirty="0">
                <a:solidFill>
                  <a:srgbClr val="64748B"/>
                </a:solidFill>
                <a:latin typeface="Aptos"/>
              </a:rPr>
              <a:t>HIGH MORTALITY</a:t>
            </a:r>
          </a:p>
          <a:p>
            <a:pPr algn="l">
              <a:spcBef>
                <a:spcPts val="500"/>
              </a:spcBef>
            </a:pPr>
            <a:r>
              <a:rPr lang="en-US" sz="2400" b="1" dirty="0">
                <a:solidFill>
                  <a:srgbClr val="0F172A"/>
                </a:solidFill>
                <a:latin typeface="Aptos"/>
              </a:rPr>
              <a:t>9.7%</a:t>
            </a:r>
          </a:p>
        </p:txBody>
      </p:sp>
      <p:sp>
        <p:nvSpPr>
          <p:cNvPr id="15" name="KPI stripe High Mortality"/>
          <p:cNvSpPr/>
          <p:nvPr/>
        </p:nvSpPr>
        <p:spPr>
          <a:xfrm>
            <a:off x="10098593" y="368440"/>
            <a:ext cx="50242" cy="6363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5_format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actors considered"/>
          <p:cNvSpPr/>
          <p:nvPr/>
        </p:nvSpPr>
        <p:spPr>
          <a:xfrm>
            <a:off x="485670" y="4957187"/>
            <a:ext cx="5467978" cy="14402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82880" tIns="109728" rIns="182880" bIns="91440" rtlCol="0" anchor="t">
            <a:noAutofit/>
          </a:bodyPr>
          <a:lstStyle/>
          <a:p>
            <a:pPr algn="l"/>
            <a:r>
              <a:rPr lang="en-US" b="1" dirty="0">
                <a:solidFill>
                  <a:srgbClr val="0D9488"/>
                </a:solidFill>
                <a:latin typeface="Aptos"/>
              </a:rPr>
              <a:t>Factors considered &amp; effect on risk grouping</a:t>
            </a:r>
          </a:p>
          <a:p>
            <a:pPr algn="l">
              <a:spcBef>
                <a:spcPts val="600"/>
              </a:spcBef>
            </a:pPr>
            <a:r>
              <a:rPr lang="en-US" sz="1200" b="1" dirty="0">
                <a:solidFill>
                  <a:srgbClr val="1E293B"/>
                </a:solidFill>
                <a:latin typeface="Aptos"/>
              </a:rPr>
              <a:t>The model combines demographics, cardiac condition/severity, comorbidities, responsiveness, laboratory measures, medication-related variables and other hospital characteristics. Their combined nonlinear patterns produce a probability that places each test patient into Low, Medium or High predicted 6-month readmission risk.</a:t>
            </a:r>
          </a:p>
        </p:txBody>
      </p:sp>
      <p:sp>
        <p:nvSpPr>
          <p:cNvPr id="4" name="Interpretation"/>
          <p:cNvSpPr/>
          <p:nvPr/>
        </p:nvSpPr>
        <p:spPr>
          <a:xfrm>
            <a:off x="6121121" y="4957187"/>
            <a:ext cx="5585209" cy="14402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82880" tIns="109728" rIns="182880" bIns="91440" rtlCol="0" anchor="t">
            <a:noAutofit/>
          </a:bodyPr>
          <a:lstStyle/>
          <a:p>
            <a:pPr algn="l"/>
            <a:r>
              <a:rPr lang="en-US" b="1" dirty="0">
                <a:solidFill>
                  <a:srgbClr val="D97706"/>
                </a:solidFill>
                <a:latin typeface="Aptos"/>
              </a:rPr>
              <a:t>Interpretation</a:t>
            </a:r>
          </a:p>
          <a:p>
            <a:pPr algn="l">
              <a:spcBef>
                <a:spcPts val="600"/>
              </a:spcBef>
            </a:pPr>
            <a:r>
              <a:rPr lang="en-US" sz="1200" b="1" dirty="0">
                <a:solidFill>
                  <a:srgbClr val="1E293B"/>
                </a:solidFill>
                <a:latin typeface="Aptos"/>
              </a:rPr>
              <a:t>The confusion matrix shows the model separates many non-readmitted patients but misses a meaningful share of readmitted patients. Feature importance highlights the variables that most affect ROC-AUC, while the risk-group chart converts model probabilities into an operational view:  Low, Medium and  High Risk patients.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6_format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3" name="Decision Flow"/>
          <p:cNvSpPr/>
          <p:nvPr/>
        </p:nvSpPr>
        <p:spPr>
          <a:xfrm>
            <a:off x="8959780" y="2428352"/>
            <a:ext cx="2746549" cy="271305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82880" tIns="109728" rIns="182880" bIns="91440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ptos"/>
              </a:rPr>
              <a:t>Decision Flow</a:t>
            </a:r>
          </a:p>
          <a:p>
            <a:pPr marL="228600" indent="-228600" algn="l">
              <a:spcBef>
                <a:spcPts val="700"/>
              </a:spcBef>
              <a:buFont typeface="+mj-lt"/>
              <a:buAutoNum type="arabicPeriod"/>
            </a:pPr>
            <a:r>
              <a:rPr lang="en-US" sz="1050" b="0" dirty="0">
                <a:solidFill>
                  <a:srgbClr val="1E293B"/>
                </a:solidFill>
                <a:latin typeface="Aptos"/>
              </a:rPr>
              <a:t>Review patient profile, cardiac severity and comorbidities.</a:t>
            </a:r>
          </a:p>
          <a:p>
            <a:pPr marL="228600" indent="-228600" algn="l">
              <a:spcBef>
                <a:spcPts val="700"/>
              </a:spcBef>
              <a:buFont typeface="+mj-lt"/>
              <a:buAutoNum type="arabicPeriod"/>
            </a:pPr>
            <a:r>
              <a:rPr lang="en-US" sz="1050" b="0" dirty="0">
                <a:solidFill>
                  <a:srgbClr val="1E293B"/>
                </a:solidFill>
                <a:latin typeface="Aptos"/>
              </a:rPr>
              <a:t>Estimate 6-month readmission risk with the predictive model.</a:t>
            </a:r>
          </a:p>
          <a:p>
            <a:pPr marL="228600" indent="-228600" algn="l">
              <a:spcBef>
                <a:spcPts val="700"/>
              </a:spcBef>
              <a:buFont typeface="+mj-lt"/>
              <a:buAutoNum type="arabicPeriod"/>
            </a:pPr>
            <a:r>
              <a:rPr lang="en-US" sz="1050" b="0" dirty="0">
                <a:solidFill>
                  <a:srgbClr val="1E293B"/>
                </a:solidFill>
                <a:latin typeface="Aptos"/>
              </a:rPr>
              <a:t>Compare risk with responsiveness and medication burden.</a:t>
            </a:r>
          </a:p>
          <a:p>
            <a:pPr marL="228600" indent="-228600" algn="l">
              <a:spcBef>
                <a:spcPts val="700"/>
              </a:spcBef>
              <a:buFont typeface="+mj-lt"/>
              <a:buAutoNum type="arabicPeriod"/>
            </a:pPr>
            <a:r>
              <a:rPr lang="en-US" sz="1050" b="0" dirty="0">
                <a:solidFill>
                  <a:srgbClr val="1E293B"/>
                </a:solidFill>
                <a:latin typeface="Aptos"/>
              </a:rPr>
              <a:t>Flag higher-risk patients for discharge planning and earlier follow-up.</a:t>
            </a:r>
          </a:p>
        </p:txBody>
      </p:sp>
      <p:sp>
        <p:nvSpPr>
          <p:cNvPr id="4" name="Conclusion and Action"/>
          <p:cNvSpPr/>
          <p:nvPr/>
        </p:nvSpPr>
        <p:spPr>
          <a:xfrm>
            <a:off x="502000" y="5368000"/>
            <a:ext cx="11188000" cy="112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82880" tIns="91440" rIns="182880" bIns="91440" rtlCol="0" anchor="ctr">
            <a:noAutofit/>
          </a:bodyPr>
          <a:lstStyle/>
          <a:p>
            <a:pPr algn="l"/>
            <a:r>
              <a:rPr lang="en-US" sz="1600" b="1" dirty="0">
                <a:solidFill>
                  <a:srgbClr val="2563EB"/>
                </a:solidFill>
                <a:latin typeface="Aptos"/>
              </a:rPr>
              <a:t>Conclusion &amp; Action</a:t>
            </a:r>
          </a:p>
          <a:p>
            <a:pPr algn="l">
              <a:spcBef>
                <a:spcPts val="400"/>
              </a:spcBef>
            </a:pPr>
            <a:r>
              <a:rPr lang="en-US" sz="1200" b="1" dirty="0">
                <a:solidFill>
                  <a:srgbClr val="1E293B"/>
                </a:solidFill>
                <a:latin typeface="Aptos"/>
              </a:rPr>
              <a:t>Patients with higher predicted readmission risk, multiple comorbidities, heavier medication burden, severe cardiac disease, or reduced responsiveness need closer clinical review.</a:t>
            </a:r>
          </a:p>
          <a:p>
            <a:pPr algn="l">
              <a:spcBef>
                <a:spcPts val="200"/>
              </a:spcBef>
            </a:pPr>
            <a:r>
              <a:rPr lang="en-US" sz="1200" b="1" dirty="0">
                <a:solidFill>
                  <a:srgbClr val="1E293B"/>
                </a:solidFill>
                <a:latin typeface="Aptos"/>
              </a:rPr>
              <a:t>Administration should use a risk-based discharge workflow to flag these patients before discharge, schedule earlier follow-up, complete medication reconciliation, and track readmission at 28 days, 3 months and 6 months.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sz="1200">
                <a:latin typeface="Aptos"/>
              </a:rPr>
              <a:t>Thank You</a:t>
            </a:r>
          </a:p>
          <a:p>
            <a:pPr algn="ctr">
              <a:defRPr sz="2300">
                <a:solidFill>
                  <a:srgbClr val="93C5FD"/>
                </a:solidFill>
              </a:defRPr>
            </a:pPr>
            <a:r>
              <a:rPr sz="1200">
                <a:latin typeface="Aptos"/>
              </a:rPr>
              <a:t>Team 6 — PyForce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889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rPr sz="1200">
                <a:latin typeface="Aptos"/>
              </a:rPr>
              <a:t>Shaffy  •  Radhika  •  Poulami  •  Samreet  •  Sharmila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77639"/>
            <a:ext cx="8503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BD5E1"/>
                </a:solidFill>
              </a:defRPr>
            </a:pPr>
            <a:r>
              <a:rPr sz="1200">
                <a:latin typeface="Aptos"/>
              </a:rPr>
              <a:t>Clean Data  →  Understand Patients  →  Identify Priorities  →  Predict Risk  →  Demonstrate Actionable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748B"/>
                </a:solidFill>
              </a:defRPr>
            </a:pPr>
            <a:r>
              <a:rPr sz="1200">
                <a:latin typeface="Aptos"/>
              </a:rPr>
              <a:t>Team 6 • PyForce   |  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616</Words>
  <Application>Microsoft Office PowerPoint</Application>
  <PresentationFormat>Widescreen</PresentationFormat>
  <Paragraphs>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Shaffy Sharma</dc:creator>
  <cp:keywords/>
  <dc:description>generated using python-pptx</dc:description>
  <cp:lastModifiedBy>Poulami Chakraborty</cp:lastModifiedBy>
  <cp:revision>12</cp:revision>
  <dcterms:created xsi:type="dcterms:W3CDTF">2013-01-27T09:14:16Z</dcterms:created>
  <dcterms:modified xsi:type="dcterms:W3CDTF">2026-09-29T20:58:32Z</dcterms:modified>
  <cp:category/>
</cp:coreProperties>
</file>